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14"/>
  </p:notesMasterIdLst>
  <p:handoutMasterIdLst>
    <p:handoutMasterId r:id="rId15"/>
  </p:handoutMasterIdLst>
  <p:sldIdLst>
    <p:sldId id="334" r:id="rId5"/>
    <p:sldId id="316" r:id="rId6"/>
    <p:sldId id="342" r:id="rId7"/>
    <p:sldId id="324" r:id="rId8"/>
    <p:sldId id="346" r:id="rId9"/>
    <p:sldId id="328" r:id="rId10"/>
    <p:sldId id="350" r:id="rId11"/>
    <p:sldId id="351" r:id="rId12"/>
    <p:sldId id="34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7904FD-27A2-4376-B00F-65BF832B1405}" v="21" dt="2026-01-15T14:43:29.92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4" autoAdjust="0"/>
    <p:restoredTop sz="84967" autoAdjust="0"/>
  </p:normalViewPr>
  <p:slideViewPr>
    <p:cSldViewPr snapToGrid="0">
      <p:cViewPr>
        <p:scale>
          <a:sx n="100" d="100"/>
          <a:sy n="100" d="100"/>
        </p:scale>
        <p:origin x="990" y="-120"/>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Vincent" userId="bffbcc5969bf0689" providerId="LiveId" clId="{19F2C798-1A19-4F23-B0F4-214D16425862}"/>
    <pc:docChg chg="undo redo custSel addSld delSld modSld sldOrd">
      <pc:chgData name="Sam Vincent" userId="bffbcc5969bf0689" providerId="LiveId" clId="{19F2C798-1A19-4F23-B0F4-214D16425862}" dt="2026-01-15T14:43:42.377" v="1130" actId="14100"/>
      <pc:docMkLst>
        <pc:docMk/>
      </pc:docMkLst>
      <pc:sldChg chg="modNotesTx">
        <pc:chgData name="Sam Vincent" userId="bffbcc5969bf0689" providerId="LiveId" clId="{19F2C798-1A19-4F23-B0F4-214D16425862}" dt="2026-01-15T13:06:26.804" v="1" actId="20577"/>
        <pc:sldMkLst>
          <pc:docMk/>
          <pc:sldMk cId="2102816447" sldId="324"/>
        </pc:sldMkLst>
      </pc:sldChg>
      <pc:sldChg chg="modSp mod">
        <pc:chgData name="Sam Vincent" userId="bffbcc5969bf0689" providerId="LiveId" clId="{19F2C798-1A19-4F23-B0F4-214D16425862}" dt="2026-01-15T13:10:28.872" v="390" actId="5793"/>
        <pc:sldMkLst>
          <pc:docMk/>
          <pc:sldMk cId="3638111570" sldId="328"/>
        </pc:sldMkLst>
        <pc:spChg chg="mod">
          <ac:chgData name="Sam Vincent" userId="bffbcc5969bf0689" providerId="LiveId" clId="{19F2C798-1A19-4F23-B0F4-214D16425862}" dt="2026-01-15T13:09:42.098" v="243" actId="20577"/>
          <ac:spMkLst>
            <pc:docMk/>
            <pc:sldMk cId="3638111570" sldId="328"/>
            <ac:spMk id="3" creationId="{3247ABD4-990A-BAC8-69FC-AF4C84F3AD63}"/>
          </ac:spMkLst>
        </pc:spChg>
        <pc:spChg chg="mod">
          <ac:chgData name="Sam Vincent" userId="bffbcc5969bf0689" providerId="LiveId" clId="{19F2C798-1A19-4F23-B0F4-214D16425862}" dt="2026-01-15T13:10:28.872" v="390" actId="5793"/>
          <ac:spMkLst>
            <pc:docMk/>
            <pc:sldMk cId="3638111570" sldId="328"/>
            <ac:spMk id="9" creationId="{61E6A21B-7748-174B-D77E-8EE0B288C7D0}"/>
          </ac:spMkLst>
        </pc:spChg>
      </pc:sldChg>
      <pc:sldChg chg="del">
        <pc:chgData name="Sam Vincent" userId="bffbcc5969bf0689" providerId="LiveId" clId="{19F2C798-1A19-4F23-B0F4-214D16425862}" dt="2026-01-15T13:13:36.229" v="686" actId="47"/>
        <pc:sldMkLst>
          <pc:docMk/>
          <pc:sldMk cId="3811950613" sldId="331"/>
        </pc:sldMkLst>
      </pc:sldChg>
      <pc:sldChg chg="del">
        <pc:chgData name="Sam Vincent" userId="bffbcc5969bf0689" providerId="LiveId" clId="{19F2C798-1A19-4F23-B0F4-214D16425862}" dt="2026-01-15T13:10:48.424" v="391" actId="47"/>
        <pc:sldMkLst>
          <pc:docMk/>
          <pc:sldMk cId="2520582305" sldId="345"/>
        </pc:sldMkLst>
      </pc:sldChg>
      <pc:sldChg chg="addSp delSp modSp mod modNotesTx">
        <pc:chgData name="Sam Vincent" userId="bffbcc5969bf0689" providerId="LiveId" clId="{19F2C798-1A19-4F23-B0F4-214D16425862}" dt="2026-01-15T14:36:40.423" v="1114" actId="20577"/>
        <pc:sldMkLst>
          <pc:docMk/>
          <pc:sldMk cId="719664809" sldId="346"/>
        </pc:sldMkLst>
        <pc:spChg chg="mod">
          <ac:chgData name="Sam Vincent" userId="bffbcc5969bf0689" providerId="LiveId" clId="{19F2C798-1A19-4F23-B0F4-214D16425862}" dt="2026-01-15T13:08:41.388" v="218" actId="207"/>
          <ac:spMkLst>
            <pc:docMk/>
            <pc:sldMk cId="719664809" sldId="346"/>
            <ac:spMk id="2" creationId="{D58E24D3-07BE-C483-3F42-95EEE83332F6}"/>
          </ac:spMkLst>
        </pc:spChg>
        <pc:spChg chg="add del mod">
          <ac:chgData name="Sam Vincent" userId="bffbcc5969bf0689" providerId="LiveId" clId="{19F2C798-1A19-4F23-B0F4-214D16425862}" dt="2026-01-15T13:07:10.040" v="27" actId="478"/>
          <ac:spMkLst>
            <pc:docMk/>
            <pc:sldMk cId="719664809" sldId="346"/>
            <ac:spMk id="4" creationId="{DC47997C-E97D-734E-E10E-45357E8CCC0F}"/>
          </ac:spMkLst>
        </pc:spChg>
        <pc:spChg chg="add del mod">
          <ac:chgData name="Sam Vincent" userId="bffbcc5969bf0689" providerId="LiveId" clId="{19F2C798-1A19-4F23-B0F4-214D16425862}" dt="2026-01-15T13:07:11.679" v="28" actId="478"/>
          <ac:spMkLst>
            <pc:docMk/>
            <pc:sldMk cId="719664809" sldId="346"/>
            <ac:spMk id="6" creationId="{92669CE9-F31E-C1DA-6E53-FC395B200345}"/>
          </ac:spMkLst>
        </pc:spChg>
        <pc:spChg chg="add del mod">
          <ac:chgData name="Sam Vincent" userId="bffbcc5969bf0689" providerId="LiveId" clId="{19F2C798-1A19-4F23-B0F4-214D16425862}" dt="2026-01-15T13:07:51.841" v="51" actId="47"/>
          <ac:spMkLst>
            <pc:docMk/>
            <pc:sldMk cId="719664809" sldId="346"/>
            <ac:spMk id="7" creationId="{9569BE81-D2CE-8AFE-FD30-3463105D7A61}"/>
          </ac:spMkLst>
        </pc:spChg>
        <pc:spChg chg="add del mod">
          <ac:chgData name="Sam Vincent" userId="bffbcc5969bf0689" providerId="LiveId" clId="{19F2C798-1A19-4F23-B0F4-214D16425862}" dt="2026-01-15T13:07:47.373" v="47"/>
          <ac:spMkLst>
            <pc:docMk/>
            <pc:sldMk cId="719664809" sldId="346"/>
            <ac:spMk id="8" creationId="{E2BC6DED-0B6F-521E-FD38-2F521B99E7A7}"/>
          </ac:spMkLst>
        </pc:spChg>
        <pc:spChg chg="add del">
          <ac:chgData name="Sam Vincent" userId="bffbcc5969bf0689" providerId="LiveId" clId="{19F2C798-1A19-4F23-B0F4-214D16425862}" dt="2026-01-15T14:24:03.908" v="751" actId="478"/>
          <ac:spMkLst>
            <pc:docMk/>
            <pc:sldMk cId="719664809" sldId="346"/>
            <ac:spMk id="9" creationId="{E62E1C0F-8E07-9C2D-7F3C-4B20D0C789A5}"/>
          </ac:spMkLst>
        </pc:spChg>
        <pc:spChg chg="add mod">
          <ac:chgData name="Sam Vincent" userId="bffbcc5969bf0689" providerId="LiveId" clId="{19F2C798-1A19-4F23-B0F4-214D16425862}" dt="2026-01-15T14:35:16.542" v="1106" actId="20577"/>
          <ac:spMkLst>
            <pc:docMk/>
            <pc:sldMk cId="719664809" sldId="346"/>
            <ac:spMk id="10" creationId="{525CB77D-1226-E449-97B3-8A9265C783AD}"/>
          </ac:spMkLst>
        </pc:spChg>
        <pc:spChg chg="del">
          <ac:chgData name="Sam Vincent" userId="bffbcc5969bf0689" providerId="LiveId" clId="{19F2C798-1A19-4F23-B0F4-214D16425862}" dt="2026-01-15T13:07:06.285" v="25" actId="478"/>
          <ac:spMkLst>
            <pc:docMk/>
            <pc:sldMk cId="719664809" sldId="346"/>
            <ac:spMk id="11" creationId="{762FCA4D-7EEE-9E3D-F691-FEFB5FB337E6}"/>
          </ac:spMkLst>
        </pc:spChg>
        <pc:spChg chg="add mod">
          <ac:chgData name="Sam Vincent" userId="bffbcc5969bf0689" providerId="LiveId" clId="{19F2C798-1A19-4F23-B0F4-214D16425862}" dt="2026-01-15T14:30:35.269" v="1064"/>
          <ac:spMkLst>
            <pc:docMk/>
            <pc:sldMk cId="719664809" sldId="346"/>
            <ac:spMk id="12" creationId="{03DBC32F-2A59-01AA-9C3B-AFB1EC768CF2}"/>
          </ac:spMkLst>
        </pc:spChg>
        <pc:spChg chg="add mod">
          <ac:chgData name="Sam Vincent" userId="bffbcc5969bf0689" providerId="LiveId" clId="{19F2C798-1A19-4F23-B0F4-214D16425862}" dt="2026-01-15T14:34:35.210" v="1098" actId="207"/>
          <ac:spMkLst>
            <pc:docMk/>
            <pc:sldMk cId="719664809" sldId="346"/>
            <ac:spMk id="15" creationId="{873FEE0F-519F-9D0C-12EC-F927CAB672E2}"/>
          </ac:spMkLst>
        </pc:spChg>
        <pc:spChg chg="del">
          <ac:chgData name="Sam Vincent" userId="bffbcc5969bf0689" providerId="LiveId" clId="{19F2C798-1A19-4F23-B0F4-214D16425862}" dt="2026-01-15T13:07:07.633" v="26" actId="478"/>
          <ac:spMkLst>
            <pc:docMk/>
            <pc:sldMk cId="719664809" sldId="346"/>
            <ac:spMk id="18" creationId="{828FD192-492A-A40D-E86A-BABC77587C80}"/>
          </ac:spMkLst>
        </pc:spChg>
        <pc:spChg chg="add del mod">
          <ac:chgData name="Sam Vincent" userId="bffbcc5969bf0689" providerId="LiveId" clId="{19F2C798-1A19-4F23-B0F4-214D16425862}" dt="2026-01-15T13:09:56.817" v="249" actId="12"/>
          <ac:spMkLst>
            <pc:docMk/>
            <pc:sldMk cId="719664809" sldId="346"/>
            <ac:spMk id="63" creationId="{9EFE5C42-059F-482E-C029-E8FA5107EEDA}"/>
          </ac:spMkLst>
        </pc:spChg>
        <pc:cxnChg chg="add del mod">
          <ac:chgData name="Sam Vincent" userId="bffbcc5969bf0689" providerId="LiveId" clId="{19F2C798-1A19-4F23-B0F4-214D16425862}" dt="2026-01-15T14:35:44.350" v="1107" actId="478"/>
          <ac:cxnSpMkLst>
            <pc:docMk/>
            <pc:sldMk cId="719664809" sldId="346"/>
            <ac:cxnSpMk id="14" creationId="{A4242706-B39B-F29F-DC2A-8A0C956BBE73}"/>
          </ac:cxnSpMkLst>
        </pc:cxnChg>
        <pc:cxnChg chg="add mod">
          <ac:chgData name="Sam Vincent" userId="bffbcc5969bf0689" providerId="LiveId" clId="{19F2C798-1A19-4F23-B0F4-214D16425862}" dt="2026-01-15T14:36:04.981" v="1110" actId="13822"/>
          <ac:cxnSpMkLst>
            <pc:docMk/>
            <pc:sldMk cId="719664809" sldId="346"/>
            <ac:cxnSpMk id="17" creationId="{E19BFE22-4C54-1F9E-4B62-811888406325}"/>
          </ac:cxnSpMkLst>
        </pc:cxnChg>
      </pc:sldChg>
      <pc:sldChg chg="del">
        <pc:chgData name="Sam Vincent" userId="bffbcc5969bf0689" providerId="LiveId" clId="{19F2C798-1A19-4F23-B0F4-214D16425862}" dt="2026-01-15T13:10:49.756" v="392" actId="47"/>
        <pc:sldMkLst>
          <pc:docMk/>
          <pc:sldMk cId="1689351536" sldId="347"/>
        </pc:sldMkLst>
      </pc:sldChg>
      <pc:sldChg chg="modSp mod">
        <pc:chgData name="Sam Vincent" userId="bffbcc5969bf0689" providerId="LiveId" clId="{19F2C798-1A19-4F23-B0F4-214D16425862}" dt="2026-01-15T13:13:54.324" v="749" actId="20577"/>
        <pc:sldMkLst>
          <pc:docMk/>
          <pc:sldMk cId="4273949180" sldId="349"/>
        </pc:sldMkLst>
        <pc:spChg chg="mod">
          <ac:chgData name="Sam Vincent" userId="bffbcc5969bf0689" providerId="LiveId" clId="{19F2C798-1A19-4F23-B0F4-214D16425862}" dt="2026-01-15T13:13:54.324" v="749" actId="20577"/>
          <ac:spMkLst>
            <pc:docMk/>
            <pc:sldMk cId="4273949180" sldId="349"/>
            <ac:spMk id="3" creationId="{FD70D88C-5989-4007-4953-F54A4A34B778}"/>
          </ac:spMkLst>
        </pc:spChg>
      </pc:sldChg>
      <pc:sldChg chg="modSp add mod ord">
        <pc:chgData name="Sam Vincent" userId="bffbcc5969bf0689" providerId="LiveId" clId="{19F2C798-1A19-4F23-B0F4-214D16425862}" dt="2026-01-15T13:11:44.758" v="526" actId="20577"/>
        <pc:sldMkLst>
          <pc:docMk/>
          <pc:sldMk cId="946303111" sldId="350"/>
        </pc:sldMkLst>
        <pc:spChg chg="mod">
          <ac:chgData name="Sam Vincent" userId="bffbcc5969bf0689" providerId="LiveId" clId="{19F2C798-1A19-4F23-B0F4-214D16425862}" dt="2026-01-15T13:11:21.338" v="416" actId="20577"/>
          <ac:spMkLst>
            <pc:docMk/>
            <pc:sldMk cId="946303111" sldId="350"/>
            <ac:spMk id="2" creationId="{8CB9A543-A73A-F394-ED06-8F29AD4BDF1B}"/>
          </ac:spMkLst>
        </pc:spChg>
        <pc:spChg chg="mod">
          <ac:chgData name="Sam Vincent" userId="bffbcc5969bf0689" providerId="LiveId" clId="{19F2C798-1A19-4F23-B0F4-214D16425862}" dt="2026-01-15T13:11:44.758" v="526" actId="20577"/>
          <ac:spMkLst>
            <pc:docMk/>
            <pc:sldMk cId="946303111" sldId="350"/>
            <ac:spMk id="63" creationId="{4911B617-4A7E-2E82-8E6D-F68DF790AF91}"/>
          </ac:spMkLst>
        </pc:spChg>
      </pc:sldChg>
      <pc:sldChg chg="addSp delSp modSp add del mod ord">
        <pc:chgData name="Sam Vincent" userId="bffbcc5969bf0689" providerId="LiveId" clId="{19F2C798-1A19-4F23-B0F4-214D16425862}" dt="2026-01-15T14:43:42.377" v="1130" actId="14100"/>
        <pc:sldMkLst>
          <pc:docMk/>
          <pc:sldMk cId="3013785177" sldId="351"/>
        </pc:sldMkLst>
        <pc:spChg chg="add del mod">
          <ac:chgData name="Sam Vincent" userId="bffbcc5969bf0689" providerId="LiveId" clId="{19F2C798-1A19-4F23-B0F4-214D16425862}" dt="2026-01-15T14:43:12.957" v="1118"/>
          <ac:spMkLst>
            <pc:docMk/>
            <pc:sldMk cId="3013785177" sldId="351"/>
            <ac:spMk id="2" creationId="{CE3F55F9-2B52-9E81-CB2C-F4EF5DBA9BE4}"/>
          </ac:spMkLst>
        </pc:spChg>
        <pc:spChg chg="mod">
          <ac:chgData name="Sam Vincent" userId="bffbcc5969bf0689" providerId="LiveId" clId="{19F2C798-1A19-4F23-B0F4-214D16425862}" dt="2026-01-15T13:12:09.751" v="539" actId="20577"/>
          <ac:spMkLst>
            <pc:docMk/>
            <pc:sldMk cId="3013785177" sldId="351"/>
            <ac:spMk id="3" creationId="{900BCB85-0D15-0F89-C4BC-F6346EEED1D4}"/>
          </ac:spMkLst>
        </pc:spChg>
        <pc:spChg chg="mod">
          <ac:chgData name="Sam Vincent" userId="bffbcc5969bf0689" providerId="LiveId" clId="{19F2C798-1A19-4F23-B0F4-214D16425862}" dt="2026-01-15T14:43:42.377" v="1130" actId="14100"/>
          <ac:spMkLst>
            <pc:docMk/>
            <pc:sldMk cId="3013785177" sldId="351"/>
            <ac:spMk id="9" creationId="{4677CB18-94DE-88EE-FDF7-D75A611BFC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1/15/2026</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1/15/2026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a:t>
            </a:r>
            <a:r>
              <a:rPr lang="en-US" dirty="0" err="1"/>
              <a:t>Phisherman</a:t>
            </a:r>
            <a:r>
              <a:rPr lang="en-US" dirty="0"/>
              <a:t> is a single-page web application I’ve designed to help users practice identifying phishing emails. It focuses on interactive learning by allowing users to classify emails and receive immediate feedback.</a:t>
            </a:r>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4667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remains one of the most common ways attackers gain access to systems. Many scams are subtle rather than obvious, so I wanted to build an interactive tool that lets users actively practice spotting these threats rather than just reading about them.</a:t>
            </a:r>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3899010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approached development iteratively. I started by planning the core structure, then built the layout, followed by dynamic email rendering, user interaction, and finally refined the logic by fixing issues as they appeared.</a:t>
            </a:r>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215970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application is built around email objects stored in an array. The app logic renders the current email to the DOM and handles user actions such as classifying emails and moving to the next scenario. This diagram shows the core structure of the application. The </a:t>
            </a:r>
            <a:r>
              <a:rPr lang="en-GB" dirty="0" err="1"/>
              <a:t>PhishermanApp</a:t>
            </a:r>
            <a:r>
              <a:rPr lang="en-GB" dirty="0"/>
              <a:t> manages a collection of Email objects, tracks the current email and score, and handles rendering and navigation logic.</a:t>
            </a:r>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28369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you can see the application rendering different email scenarios dynamically. When a user makes a choice, the application validates it against the email data, updates feedback, and adjusts the score — all without reloading the page.</a:t>
            </a:r>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373993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E8ECB-0A34-E748-D79C-A6D8D0965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1023E-449B-694D-2CC4-96CF2407C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C9103-7372-0BE7-F9ED-170DC9B16FC7}"/>
              </a:ext>
            </a:extLst>
          </p:cNvPr>
          <p:cNvSpPr>
            <a:spLocks noGrp="1"/>
          </p:cNvSpPr>
          <p:nvPr>
            <p:ph type="body" idx="1"/>
          </p:nvPr>
        </p:nvSpPr>
        <p:spPr/>
        <p:txBody>
          <a:bodyPr/>
          <a:lstStyle/>
          <a:p>
            <a:r>
              <a:rPr lang="en-GB" dirty="0"/>
              <a:t>During development I encountered issues such as mismatched DOM selectors, undefined function calls, and syntax errors within email objects. I used the browser console to identify these problems and resolved them through code reorganisation, clearer naming, and incremental fixes.</a:t>
            </a:r>
            <a:endParaRPr lang="en-US" dirty="0"/>
          </a:p>
        </p:txBody>
      </p:sp>
      <p:sp>
        <p:nvSpPr>
          <p:cNvPr id="4" name="Slide Number Placeholder 3">
            <a:extLst>
              <a:ext uri="{FF2B5EF4-FFF2-40B4-BE49-F238E27FC236}">
                <a16:creationId xmlns:a16="http://schemas.microsoft.com/office/drawing/2014/main" id="{49C7FC7C-FAA1-B15F-7D06-11993460FE51}"/>
              </a:ext>
            </a:extLst>
          </p:cNvPr>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2266881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1AF21-2565-1081-526F-CE727E631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ACC30-06DC-3F4D-7959-BF54B2797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F4BC1-3B75-6EF7-919F-06DE6F1AFA15}"/>
              </a:ext>
            </a:extLst>
          </p:cNvPr>
          <p:cNvSpPr>
            <a:spLocks noGrp="1"/>
          </p:cNvSpPr>
          <p:nvPr>
            <p:ph type="body" idx="1"/>
          </p:nvPr>
        </p:nvSpPr>
        <p:spPr/>
        <p:txBody>
          <a:bodyPr/>
          <a:lstStyle/>
          <a:p>
            <a:r>
              <a:rPr lang="en-GB" dirty="0"/>
              <a:t>This project helped reinforce the importance of planning, incremental development, and clear communication. Debugging issues and explaining design decisions closely reflects real-world software development practice.</a:t>
            </a:r>
            <a:endParaRPr lang="en-US" dirty="0"/>
          </a:p>
        </p:txBody>
      </p:sp>
      <p:sp>
        <p:nvSpPr>
          <p:cNvPr id="4" name="Slide Number Placeholder 3">
            <a:extLst>
              <a:ext uri="{FF2B5EF4-FFF2-40B4-BE49-F238E27FC236}">
                <a16:creationId xmlns:a16="http://schemas.microsoft.com/office/drawing/2014/main" id="{630D45E7-CF52-08CF-D782-2BE774E5BA04}"/>
              </a:ext>
            </a:extLst>
          </p:cNvPr>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300914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dirty="0"/>
              <a:t>The </a:t>
            </a:r>
            <a:r>
              <a:rPr lang="en-US" dirty="0" err="1"/>
              <a:t>Phisherman</a:t>
            </a:r>
            <a:endParaRPr lang="en-US" dirty="0"/>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p:txBody>
          <a:bodyPr/>
          <a:lstStyle/>
          <a:p>
            <a:r>
              <a:rPr lang="en-US" dirty="0"/>
              <a:t>Content</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p:pic>
      <p:sp>
        <p:nvSpPr>
          <p:cNvPr id="4" name="Text Placeholder 3">
            <a:extLst>
              <a:ext uri="{FF2B5EF4-FFF2-40B4-BE49-F238E27FC236}">
                <a16:creationId xmlns:a16="http://schemas.microsoft.com/office/drawing/2014/main" id="{BFAF7377-87AF-3A8C-539C-8A9651F5DA33}"/>
              </a:ext>
            </a:extLst>
          </p:cNvPr>
          <p:cNvSpPr>
            <a:spLocks noGrp="1"/>
          </p:cNvSpPr>
          <p:nvPr>
            <p:ph type="body" sz="quarter" idx="17"/>
          </p:nvPr>
        </p:nvSpPr>
        <p:spPr>
          <a:xfrm>
            <a:off x="4100660" y="3161752"/>
            <a:ext cx="6933956" cy="3144965"/>
          </a:xfrm>
        </p:spPr>
        <p:txBody>
          <a:bodyPr/>
          <a:lstStyle/>
          <a:p>
            <a:r>
              <a:rPr lang="en-US" dirty="0"/>
              <a:t>A phishing awareness Single Page Application</a:t>
            </a:r>
          </a:p>
          <a:p>
            <a:r>
              <a:rPr lang="en-US" dirty="0"/>
              <a:t>	Module: COMP1004 Computing Practice</a:t>
            </a:r>
          </a:p>
          <a:p>
            <a:r>
              <a:rPr lang="en-US" dirty="0"/>
              <a:t>Sam Vincent</a:t>
            </a:r>
          </a:p>
          <a:p>
            <a:endParaRPr lang="en-US" dirty="0"/>
          </a:p>
          <a:p>
            <a:endParaRPr lang="en-US" dirty="0"/>
          </a:p>
        </p:txBody>
      </p:sp>
    </p:spTree>
    <p:extLst>
      <p:ext uri="{BB962C8B-B14F-4D97-AF65-F5344CB8AC3E}">
        <p14:creationId xmlns:p14="http://schemas.microsoft.com/office/powerpoint/2010/main" val="30378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4114800" y="1234030"/>
            <a:ext cx="7498080" cy="1280160"/>
          </a:xfrm>
        </p:spPr>
        <p:txBody>
          <a:bodyPr/>
          <a:lstStyle/>
          <a:p>
            <a:r>
              <a:rPr lang="en-US" sz="4800" dirty="0"/>
              <a:t>Background and Motivation</a:t>
            </a:r>
          </a:p>
        </p:txBody>
      </p:sp>
      <p:pic>
        <p:nvPicPr>
          <p:cNvPr id="13" name="Picture Placeholder 12" descr="A mountain range with snow">
            <a:extLst>
              <a:ext uri="{FF2B5EF4-FFF2-40B4-BE49-F238E27FC236}">
                <a16:creationId xmlns:a16="http://schemas.microsoft.com/office/drawing/2014/main" id="{06CC7187-0D55-8D17-DB17-83EAB1EF8D05}"/>
              </a:ext>
            </a:extLst>
          </p:cNvPr>
          <p:cNvPicPr>
            <a:picLocks noGrp="1" noChangeAspect="1"/>
          </p:cNvPicPr>
          <p:nvPr>
            <p:ph type="pic" sz="quarter" idx="13"/>
          </p:nvPr>
        </p:nvPicPr>
        <p:blipFill>
          <a:blip r:embed="rId3"/>
          <a:srcRect/>
          <a:stretch/>
        </p:blipFill>
        <p:spPr/>
      </p:pic>
      <p:sp>
        <p:nvSpPr>
          <p:cNvPr id="3" name="Content Placeholder 2">
            <a:extLst>
              <a:ext uri="{FF2B5EF4-FFF2-40B4-BE49-F238E27FC236}">
                <a16:creationId xmlns:a16="http://schemas.microsoft.com/office/drawing/2014/main" id="{D4418541-7290-F1A9-2357-CA26E074EF45}"/>
              </a:ext>
            </a:extLst>
          </p:cNvPr>
          <p:cNvSpPr>
            <a:spLocks noGrp="1"/>
          </p:cNvSpPr>
          <p:nvPr>
            <p:ph idx="1"/>
          </p:nvPr>
        </p:nvSpPr>
        <p:spPr>
          <a:xfrm>
            <a:off x="1317615" y="3331984"/>
            <a:ext cx="10295265" cy="1956928"/>
          </a:xfrm>
        </p:spPr>
        <p:txBody>
          <a:bodyPr/>
          <a:lstStyle/>
          <a:p>
            <a:pPr marL="285750" indent="-285750">
              <a:buFont typeface="Arial" panose="020B0604020202020204" pitchFamily="34" charset="0"/>
              <a:buChar char="•"/>
            </a:pPr>
            <a:r>
              <a:rPr lang="en-US" sz="2800" dirty="0"/>
              <a:t>Phishing is a common cyber attack vector</a:t>
            </a:r>
          </a:p>
          <a:p>
            <a:pPr marL="285750" indent="-285750">
              <a:buFont typeface="Arial" panose="020B0604020202020204" pitchFamily="34" charset="0"/>
              <a:buChar char="•"/>
            </a:pPr>
            <a:r>
              <a:rPr lang="en-US" sz="2800" dirty="0"/>
              <a:t>Users struggle to identify subtle scams</a:t>
            </a:r>
          </a:p>
          <a:p>
            <a:pPr marL="285750" indent="-285750">
              <a:buFont typeface="Arial" panose="020B0604020202020204" pitchFamily="34" charset="0"/>
              <a:buChar char="•"/>
            </a:pPr>
            <a:r>
              <a:rPr lang="en-US" sz="2800" dirty="0"/>
              <a:t>Interactive training improves awareness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50287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FDAA-00CD-846E-A576-B59DFA73F988}"/>
              </a:ext>
            </a:extLst>
          </p:cNvPr>
          <p:cNvSpPr>
            <a:spLocks noGrp="1"/>
          </p:cNvSpPr>
          <p:nvPr>
            <p:ph type="title"/>
          </p:nvPr>
        </p:nvSpPr>
        <p:spPr>
          <a:xfrm>
            <a:off x="1280160" y="685800"/>
            <a:ext cx="9137012" cy="2057400"/>
          </a:xfrm>
        </p:spPr>
        <p:txBody>
          <a:bodyPr/>
          <a:lstStyle/>
          <a:p>
            <a:r>
              <a:rPr lang="en-US" sz="4800" dirty="0"/>
              <a:t>Project Plan and Development</a:t>
            </a:r>
          </a:p>
        </p:txBody>
      </p:sp>
      <p:sp>
        <p:nvSpPr>
          <p:cNvPr id="5" name="Content Placeholder 4">
            <a:extLst>
              <a:ext uri="{FF2B5EF4-FFF2-40B4-BE49-F238E27FC236}">
                <a16:creationId xmlns:a16="http://schemas.microsoft.com/office/drawing/2014/main" id="{7AC88125-7E82-74D4-A4EC-89AC51AB4F28}"/>
              </a:ext>
            </a:extLst>
          </p:cNvPr>
          <p:cNvSpPr>
            <a:spLocks noGrp="1"/>
          </p:cNvSpPr>
          <p:nvPr>
            <p:ph sz="half" idx="2"/>
          </p:nvPr>
        </p:nvSpPr>
        <p:spPr>
          <a:xfrm>
            <a:off x="1280160" y="3200400"/>
            <a:ext cx="9137012" cy="2971800"/>
          </a:xfrm>
        </p:spPr>
        <p:txBody>
          <a:bodyPr>
            <a:normAutofit/>
          </a:bodyPr>
          <a:lstStyle/>
          <a:p>
            <a:pPr marL="285750" indent="-285750">
              <a:buFont typeface="Arial" panose="020B0604020202020204" pitchFamily="34" charset="0"/>
              <a:buChar char="•"/>
            </a:pPr>
            <a:r>
              <a:rPr lang="en-GB" sz="2800" dirty="0"/>
              <a:t>Planned core features before coding</a:t>
            </a:r>
          </a:p>
          <a:p>
            <a:pPr marL="285750" indent="-285750">
              <a:buFont typeface="Arial" panose="020B0604020202020204" pitchFamily="34" charset="0"/>
              <a:buChar char="•"/>
            </a:pPr>
            <a:r>
              <a:rPr lang="en-GB" sz="2800" dirty="0"/>
              <a:t>Built layout and structure first</a:t>
            </a:r>
          </a:p>
          <a:p>
            <a:pPr marL="285750" indent="-285750">
              <a:buFont typeface="Arial" panose="020B0604020202020204" pitchFamily="34" charset="0"/>
              <a:buChar char="•"/>
            </a:pPr>
            <a:r>
              <a:rPr lang="en-GB" sz="2800" dirty="0"/>
              <a:t>Added dynamic rendering and interaction</a:t>
            </a:r>
          </a:p>
          <a:p>
            <a:pPr marL="285750" indent="-285750">
              <a:buFont typeface="Arial" panose="020B0604020202020204" pitchFamily="34" charset="0"/>
              <a:buChar char="•"/>
            </a:pPr>
            <a:r>
              <a:rPr lang="en-GB" sz="2800" dirty="0"/>
              <a:t>Iterative debugging and refinement</a:t>
            </a:r>
          </a:p>
        </p:txBody>
      </p:sp>
      <p:pic>
        <p:nvPicPr>
          <p:cNvPr id="9" name="Picture 8">
            <a:extLst>
              <a:ext uri="{FF2B5EF4-FFF2-40B4-BE49-F238E27FC236}">
                <a16:creationId xmlns:a16="http://schemas.microsoft.com/office/drawing/2014/main" id="{A46A789C-3597-03E6-D3AC-0BA6BC9F0B37}"/>
              </a:ext>
            </a:extLst>
          </p:cNvPr>
          <p:cNvPicPr>
            <a:picLocks noChangeAspect="1"/>
          </p:cNvPicPr>
          <p:nvPr/>
        </p:nvPicPr>
        <p:blipFill>
          <a:blip r:embed="rId3"/>
          <a:stretch>
            <a:fillRect/>
          </a:stretch>
        </p:blipFill>
        <p:spPr>
          <a:xfrm>
            <a:off x="8954854" y="1145582"/>
            <a:ext cx="1956986" cy="1956986"/>
          </a:xfrm>
          <a:prstGeom prst="rect">
            <a:avLst/>
          </a:prstGeom>
        </p:spPr>
      </p:pic>
    </p:spTree>
    <p:extLst>
      <p:ext uri="{BB962C8B-B14F-4D97-AF65-F5344CB8AC3E}">
        <p14:creationId xmlns:p14="http://schemas.microsoft.com/office/powerpoint/2010/main" val="2102816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24D3-07BE-C483-3F42-95EEE83332F6}"/>
              </a:ext>
            </a:extLst>
          </p:cNvPr>
          <p:cNvSpPr>
            <a:spLocks noGrp="1"/>
          </p:cNvSpPr>
          <p:nvPr>
            <p:ph type="title"/>
          </p:nvPr>
        </p:nvSpPr>
        <p:spPr>
          <a:xfrm>
            <a:off x="1289051" y="927099"/>
            <a:ext cx="4754880" cy="1895476"/>
          </a:xfrm>
        </p:spPr>
        <p:txBody>
          <a:bodyPr/>
          <a:lstStyle/>
          <a:p>
            <a:r>
              <a:rPr lang="en-US" dirty="0">
                <a:solidFill>
                  <a:schemeClr val="tx1"/>
                </a:solidFill>
              </a:rPr>
              <a:t>Design and </a:t>
            </a:r>
            <a:r>
              <a:rPr lang="en-US" dirty="0" err="1">
                <a:solidFill>
                  <a:schemeClr val="tx1"/>
                </a:solidFill>
              </a:rPr>
              <a:t>Uml</a:t>
            </a:r>
            <a:r>
              <a:rPr lang="en-US" dirty="0">
                <a:solidFill>
                  <a:schemeClr val="tx1"/>
                </a:solidFill>
              </a:rPr>
              <a:t> overview</a:t>
            </a:r>
          </a:p>
        </p:txBody>
      </p:sp>
      <p:sp>
        <p:nvSpPr>
          <p:cNvPr id="63" name="Text Placeholder 62">
            <a:extLst>
              <a:ext uri="{FF2B5EF4-FFF2-40B4-BE49-F238E27FC236}">
                <a16:creationId xmlns:a16="http://schemas.microsoft.com/office/drawing/2014/main" id="{9EFE5C42-059F-482E-C029-E8FA5107EEDA}"/>
              </a:ext>
            </a:extLst>
          </p:cNvPr>
          <p:cNvSpPr>
            <a:spLocks noGrp="1"/>
          </p:cNvSpPr>
          <p:nvPr>
            <p:ph sz="quarter" idx="15"/>
          </p:nvPr>
        </p:nvSpPr>
        <p:spPr>
          <a:xfrm>
            <a:off x="1289051" y="3087688"/>
            <a:ext cx="4663440" cy="1895475"/>
          </a:xfrm>
        </p:spPr>
        <p:txBody>
          <a:bodyPr>
            <a:normAutofit/>
          </a:bodyPr>
          <a:lstStyle/>
          <a:p>
            <a:pPr>
              <a:buFont typeface="Arial" panose="020B0604020202020204" pitchFamily="34" charset="0"/>
              <a:buChar char="•"/>
            </a:pPr>
            <a:r>
              <a:rPr lang="en-US" dirty="0"/>
              <a:t>Email objects stored as data</a:t>
            </a:r>
          </a:p>
          <a:p>
            <a:pPr>
              <a:buFont typeface="Arial" panose="020B0604020202020204" pitchFamily="34" charset="0"/>
              <a:buChar char="•"/>
            </a:pPr>
            <a:r>
              <a:rPr lang="en-US" dirty="0"/>
              <a:t>Email list managed by application logic</a:t>
            </a:r>
          </a:p>
          <a:p>
            <a:pPr>
              <a:buFont typeface="Arial" panose="020B0604020202020204" pitchFamily="34" charset="0"/>
              <a:buChar char="•"/>
            </a:pPr>
            <a:r>
              <a:rPr lang="en-US" dirty="0"/>
              <a:t>Rendering handled through DOM updates</a:t>
            </a:r>
          </a:p>
          <a:p>
            <a:pPr>
              <a:buFont typeface="Arial" panose="020B0604020202020204" pitchFamily="34" charset="0"/>
              <a:buChar char="•"/>
            </a:pPr>
            <a:r>
              <a:rPr lang="en-US" dirty="0"/>
              <a:t>User interaction via event listeners</a:t>
            </a:r>
          </a:p>
        </p:txBody>
      </p:sp>
      <p:sp>
        <p:nvSpPr>
          <p:cNvPr id="10" name="Rectangle 9">
            <a:extLst>
              <a:ext uri="{FF2B5EF4-FFF2-40B4-BE49-F238E27FC236}">
                <a16:creationId xmlns:a16="http://schemas.microsoft.com/office/drawing/2014/main" id="{525CB77D-1226-E449-97B3-8A9265C783AD}"/>
              </a:ext>
            </a:extLst>
          </p:cNvPr>
          <p:cNvSpPr/>
          <p:nvPr/>
        </p:nvSpPr>
        <p:spPr>
          <a:xfrm>
            <a:off x="9382125" y="342900"/>
            <a:ext cx="2705100" cy="5867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Email</a:t>
            </a:r>
          </a:p>
          <a:p>
            <a:pPr algn="ctr"/>
            <a:endParaRPr lang="en-GB" b="1" dirty="0"/>
          </a:p>
          <a:p>
            <a:pPr algn="ctr"/>
            <a:r>
              <a:rPr lang="en-GB" b="1" dirty="0"/>
              <a:t>-----------</a:t>
            </a:r>
          </a:p>
          <a:p>
            <a:pPr algn="ctr"/>
            <a:endParaRPr lang="en-GB" b="1" dirty="0"/>
          </a:p>
          <a:p>
            <a:pPr algn="ctr"/>
            <a:r>
              <a:rPr lang="en-GB" sz="1400" dirty="0"/>
              <a:t>From: string</a:t>
            </a:r>
          </a:p>
          <a:p>
            <a:pPr algn="ctr"/>
            <a:r>
              <a:rPr lang="en-GB" sz="1400" dirty="0"/>
              <a:t>Subject: string</a:t>
            </a:r>
          </a:p>
          <a:p>
            <a:pPr algn="ctr"/>
            <a:r>
              <a:rPr lang="en-GB" sz="1400" dirty="0"/>
              <a:t>Body: string</a:t>
            </a:r>
          </a:p>
          <a:p>
            <a:pPr algn="ctr"/>
            <a:r>
              <a:rPr lang="en-GB" sz="1400" dirty="0" err="1"/>
              <a:t>isPhishing</a:t>
            </a:r>
            <a:r>
              <a:rPr lang="en-GB" sz="1400" dirty="0"/>
              <a:t> : Boolean</a:t>
            </a:r>
          </a:p>
          <a:p>
            <a:pPr algn="ctr"/>
            <a:r>
              <a:rPr lang="en-GB" sz="1400" dirty="0"/>
              <a:t>Explanation: string</a:t>
            </a:r>
          </a:p>
          <a:p>
            <a:pPr marL="285750" indent="-285750" algn="ctr">
              <a:buFont typeface="Arial" panose="020B0604020202020204" pitchFamily="34" charset="0"/>
              <a:buChar char="•"/>
            </a:pPr>
            <a:endParaRPr lang="en-GB" dirty="0"/>
          </a:p>
          <a:p>
            <a:pPr algn="ctr"/>
            <a:r>
              <a:rPr lang="en-GB" b="1" dirty="0"/>
              <a:t>-----------</a:t>
            </a:r>
            <a:endParaRPr lang="en-GB" dirty="0"/>
          </a:p>
        </p:txBody>
      </p:sp>
      <p:sp>
        <p:nvSpPr>
          <p:cNvPr id="12" name="Rectangle 11">
            <a:extLst>
              <a:ext uri="{FF2B5EF4-FFF2-40B4-BE49-F238E27FC236}">
                <a16:creationId xmlns:a16="http://schemas.microsoft.com/office/drawing/2014/main" id="{03DBC32F-2A59-01AA-9C3B-AFB1EC768CF2}"/>
              </a:ext>
            </a:extLst>
          </p:cNvPr>
          <p:cNvSpPr/>
          <p:nvPr/>
        </p:nvSpPr>
        <p:spPr>
          <a:xfrm>
            <a:off x="6562725" y="342900"/>
            <a:ext cx="2705100" cy="5867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t>PhishermanApp</a:t>
            </a:r>
            <a:endParaRPr lang="en-GB" b="1" dirty="0"/>
          </a:p>
          <a:p>
            <a:pPr algn="ctr"/>
            <a:endParaRPr lang="en-GB" b="1" dirty="0"/>
          </a:p>
          <a:p>
            <a:pPr algn="ctr"/>
            <a:r>
              <a:rPr lang="en-GB" b="1" dirty="0"/>
              <a:t>-----------</a:t>
            </a:r>
          </a:p>
          <a:p>
            <a:pPr algn="ctr"/>
            <a:endParaRPr lang="en-GB" b="1" dirty="0"/>
          </a:p>
          <a:p>
            <a:pPr algn="ctr"/>
            <a:r>
              <a:rPr lang="en-GB" sz="1400" dirty="0"/>
              <a:t>emails : Email[]</a:t>
            </a:r>
          </a:p>
          <a:p>
            <a:pPr algn="ctr"/>
            <a:r>
              <a:rPr lang="en-GB" sz="1400" dirty="0" err="1"/>
              <a:t>currentEmailIndex</a:t>
            </a:r>
            <a:r>
              <a:rPr lang="en-GB" sz="1400" dirty="0"/>
              <a:t> : number</a:t>
            </a:r>
          </a:p>
          <a:p>
            <a:pPr algn="ctr"/>
            <a:r>
              <a:rPr lang="en-GB" sz="1400" dirty="0"/>
              <a:t>score : number</a:t>
            </a:r>
          </a:p>
          <a:p>
            <a:pPr marL="285750" indent="-285750" algn="ctr">
              <a:buFont typeface="Arial" panose="020B0604020202020204" pitchFamily="34" charset="0"/>
              <a:buChar char="•"/>
            </a:pPr>
            <a:endParaRPr lang="en-GB" sz="1400" dirty="0"/>
          </a:p>
          <a:p>
            <a:pPr algn="ctr"/>
            <a:r>
              <a:rPr lang="en-GB" sz="1400" b="1" dirty="0"/>
              <a:t>-----------</a:t>
            </a:r>
            <a:endParaRPr lang="en-GB" sz="1400" dirty="0"/>
          </a:p>
          <a:p>
            <a:pPr algn="ctr"/>
            <a:endParaRPr lang="en-GB" sz="1400" dirty="0"/>
          </a:p>
          <a:p>
            <a:pPr algn="ctr"/>
            <a:r>
              <a:rPr lang="en-GB" sz="1400" dirty="0" err="1"/>
              <a:t>renderEmail</a:t>
            </a:r>
            <a:r>
              <a:rPr lang="en-GB" sz="1400" dirty="0"/>
              <a:t>(email)</a:t>
            </a:r>
          </a:p>
          <a:p>
            <a:pPr algn="ctr"/>
            <a:r>
              <a:rPr lang="en-GB" sz="1400" dirty="0" err="1"/>
              <a:t>nextEmail</a:t>
            </a:r>
            <a:r>
              <a:rPr lang="en-GB" sz="1400" dirty="0"/>
              <a:t>()</a:t>
            </a:r>
          </a:p>
        </p:txBody>
      </p:sp>
      <p:sp>
        <p:nvSpPr>
          <p:cNvPr id="15" name="Diamond 14">
            <a:extLst>
              <a:ext uri="{FF2B5EF4-FFF2-40B4-BE49-F238E27FC236}">
                <a16:creationId xmlns:a16="http://schemas.microsoft.com/office/drawing/2014/main" id="{873FEE0F-519F-9D0C-12EC-F927CAB672E2}"/>
              </a:ext>
            </a:extLst>
          </p:cNvPr>
          <p:cNvSpPr/>
          <p:nvPr/>
        </p:nvSpPr>
        <p:spPr>
          <a:xfrm>
            <a:off x="8829675" y="1874837"/>
            <a:ext cx="276225" cy="287338"/>
          </a:xfrm>
          <a:prstGeom prst="diamond">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E19BFE22-4C54-1F9E-4B62-811888406325}"/>
              </a:ext>
            </a:extLst>
          </p:cNvPr>
          <p:cNvCxnSpPr/>
          <p:nvPr/>
        </p:nvCxnSpPr>
        <p:spPr>
          <a:xfrm>
            <a:off x="8953500" y="2028825"/>
            <a:ext cx="1323975"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19664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47ABD4-990A-BAC8-69FC-AF4C84F3AD63}"/>
              </a:ext>
            </a:extLst>
          </p:cNvPr>
          <p:cNvSpPr>
            <a:spLocks noGrp="1"/>
          </p:cNvSpPr>
          <p:nvPr>
            <p:ph type="ctrTitle"/>
          </p:nvPr>
        </p:nvSpPr>
        <p:spPr>
          <a:xfrm>
            <a:off x="1280160" y="301752"/>
            <a:ext cx="4663438" cy="2441448"/>
          </a:xfrm>
        </p:spPr>
        <p:txBody>
          <a:bodyPr/>
          <a:lstStyle/>
          <a:p>
            <a:r>
              <a:rPr lang="en-US" dirty="0"/>
              <a:t>Prototype demonstration</a:t>
            </a:r>
          </a:p>
        </p:txBody>
      </p:sp>
      <p:sp>
        <p:nvSpPr>
          <p:cNvPr id="9" name="Text Placeholder 8">
            <a:extLst>
              <a:ext uri="{FF2B5EF4-FFF2-40B4-BE49-F238E27FC236}">
                <a16:creationId xmlns:a16="http://schemas.microsoft.com/office/drawing/2014/main" id="{61E6A21B-7748-174B-D77E-8EE0B288C7D0}"/>
              </a:ext>
            </a:extLst>
          </p:cNvPr>
          <p:cNvSpPr>
            <a:spLocks noGrp="1"/>
          </p:cNvSpPr>
          <p:nvPr>
            <p:ph type="body" sz="quarter" idx="14"/>
          </p:nvPr>
        </p:nvSpPr>
        <p:spPr>
          <a:xfrm>
            <a:off x="1280161" y="2777067"/>
            <a:ext cx="4663440" cy="3550581"/>
          </a:xfrm>
        </p:spPr>
        <p:txBody>
          <a:bodyPr/>
          <a:lstStyle/>
          <a:p>
            <a:pPr marL="285750" indent="-285750">
              <a:buFont typeface="Arial" panose="020B0604020202020204" pitchFamily="34" charset="0"/>
              <a:buChar char="•"/>
            </a:pPr>
            <a:r>
              <a:rPr lang="en-US" dirty="0"/>
              <a:t>Dynamic email rendering</a:t>
            </a:r>
          </a:p>
          <a:p>
            <a:pPr marL="285750" indent="-285750">
              <a:buFont typeface="Arial" panose="020B0604020202020204" pitchFamily="34" charset="0"/>
              <a:buChar char="•"/>
            </a:pPr>
            <a:r>
              <a:rPr lang="en-US" dirty="0"/>
              <a:t>Legitimate and phishing selections</a:t>
            </a:r>
          </a:p>
          <a:p>
            <a:pPr marL="285750" indent="-285750">
              <a:buFont typeface="Arial" panose="020B0604020202020204" pitchFamily="34" charset="0"/>
              <a:buChar char="•"/>
            </a:pPr>
            <a:r>
              <a:rPr lang="en-US" dirty="0"/>
              <a:t>Immediate feedback</a:t>
            </a:r>
          </a:p>
          <a:p>
            <a:pPr marL="285750" indent="-285750">
              <a:buFont typeface="Arial" panose="020B0604020202020204" pitchFamily="34" charset="0"/>
              <a:buChar char="•"/>
            </a:pPr>
            <a:r>
              <a:rPr lang="en-US" dirty="0"/>
              <a:t>Score tracking</a:t>
            </a:r>
          </a:p>
          <a:p>
            <a:pPr marL="285750" indent="-285750">
              <a:buFont typeface="Arial" panose="020B0604020202020204" pitchFamily="34" charset="0"/>
              <a:buChar char="•"/>
            </a:pPr>
            <a:r>
              <a:rPr lang="en-US" dirty="0"/>
              <a:t>Next email navigation</a:t>
            </a:r>
          </a:p>
          <a:p>
            <a:endParaRPr lang="en-US" dirty="0"/>
          </a:p>
        </p:txBody>
      </p:sp>
      <p:pic>
        <p:nvPicPr>
          <p:cNvPr id="6" name="Picture Placeholder 21" descr="Mountains under near dusk sky">
            <a:extLst>
              <a:ext uri="{FF2B5EF4-FFF2-40B4-BE49-F238E27FC236}">
                <a16:creationId xmlns:a16="http://schemas.microsoft.com/office/drawing/2014/main" id="{1472EB4E-1296-AC66-19FA-B01BB8D8A5F8}"/>
              </a:ext>
            </a:extLst>
          </p:cNvPr>
          <p:cNvPicPr>
            <a:picLocks noGrp="1" noChangeAspect="1"/>
          </p:cNvPicPr>
          <p:nvPr>
            <p:ph type="pic" sz="quarter" idx="13"/>
          </p:nvPr>
        </p:nvPicPr>
        <p:blipFill rotWithShape="1">
          <a:blip r:embed="rId3"/>
          <a:srcRect l="22444" r="22444"/>
          <a:stretch/>
        </p:blipFill>
        <p:spPr>
          <a:xfrm>
            <a:off x="6695553" y="301752"/>
            <a:ext cx="5221224" cy="6263640"/>
          </a:xfrm>
        </p:spPr>
      </p:pic>
    </p:spTree>
    <p:extLst>
      <p:ext uri="{BB962C8B-B14F-4D97-AF65-F5344CB8AC3E}">
        <p14:creationId xmlns:p14="http://schemas.microsoft.com/office/powerpoint/2010/main" val="363811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E8400-567D-ABFB-8811-F0416D1C2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9A543-A73A-F394-ED06-8F29AD4BDF1B}"/>
              </a:ext>
            </a:extLst>
          </p:cNvPr>
          <p:cNvSpPr>
            <a:spLocks noGrp="1"/>
          </p:cNvSpPr>
          <p:nvPr>
            <p:ph type="title"/>
          </p:nvPr>
        </p:nvSpPr>
        <p:spPr>
          <a:xfrm>
            <a:off x="1289051" y="927099"/>
            <a:ext cx="4754880" cy="1895476"/>
          </a:xfrm>
        </p:spPr>
        <p:txBody>
          <a:bodyPr/>
          <a:lstStyle/>
          <a:p>
            <a:r>
              <a:rPr lang="en-US" dirty="0">
                <a:solidFill>
                  <a:schemeClr val="tx1"/>
                </a:solidFill>
              </a:rPr>
              <a:t>Issues and challenges</a:t>
            </a:r>
          </a:p>
        </p:txBody>
      </p:sp>
      <p:sp>
        <p:nvSpPr>
          <p:cNvPr id="63" name="Text Placeholder 62">
            <a:extLst>
              <a:ext uri="{FF2B5EF4-FFF2-40B4-BE49-F238E27FC236}">
                <a16:creationId xmlns:a16="http://schemas.microsoft.com/office/drawing/2014/main" id="{4911B617-4A7E-2E82-8E6D-F68DF790AF91}"/>
              </a:ext>
            </a:extLst>
          </p:cNvPr>
          <p:cNvSpPr>
            <a:spLocks noGrp="1"/>
          </p:cNvSpPr>
          <p:nvPr>
            <p:ph sz="quarter" idx="15"/>
          </p:nvPr>
        </p:nvSpPr>
        <p:spPr>
          <a:xfrm>
            <a:off x="1289051" y="3087688"/>
            <a:ext cx="4663440" cy="1895475"/>
          </a:xfrm>
        </p:spPr>
        <p:txBody>
          <a:bodyPr>
            <a:normAutofit/>
          </a:bodyPr>
          <a:lstStyle/>
          <a:p>
            <a:pPr>
              <a:buFont typeface="Arial" panose="020B0604020202020204" pitchFamily="34" charset="0"/>
              <a:buChar char="•"/>
            </a:pPr>
            <a:r>
              <a:rPr lang="en-US" dirty="0"/>
              <a:t>DOM selector mismatches</a:t>
            </a:r>
          </a:p>
          <a:p>
            <a:pPr>
              <a:buFont typeface="Arial" panose="020B0604020202020204" pitchFamily="34" charset="0"/>
              <a:buChar char="•"/>
            </a:pPr>
            <a:r>
              <a:rPr lang="en-US" dirty="0"/>
              <a:t>Undefined function errors</a:t>
            </a:r>
          </a:p>
          <a:p>
            <a:pPr>
              <a:buFont typeface="Arial" panose="020B0604020202020204" pitchFamily="34" charset="0"/>
              <a:buChar char="•"/>
            </a:pPr>
            <a:r>
              <a:rPr lang="en-US" dirty="0"/>
              <a:t>Syntax errors in data objects</a:t>
            </a:r>
          </a:p>
          <a:p>
            <a:pPr>
              <a:buFont typeface="Arial" panose="020B0604020202020204" pitchFamily="34" charset="0"/>
              <a:buChar char="•"/>
            </a:pPr>
            <a:r>
              <a:rPr lang="en-US" dirty="0"/>
              <a:t>UI readability refinements</a:t>
            </a:r>
          </a:p>
        </p:txBody>
      </p:sp>
    </p:spTree>
    <p:extLst>
      <p:ext uri="{BB962C8B-B14F-4D97-AF65-F5344CB8AC3E}">
        <p14:creationId xmlns:p14="http://schemas.microsoft.com/office/powerpoint/2010/main" val="946303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D719A-7FE1-FA57-875E-AC7A0DE415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0BCB85-0D15-0F89-C4BC-F6346EEED1D4}"/>
              </a:ext>
            </a:extLst>
          </p:cNvPr>
          <p:cNvSpPr>
            <a:spLocks noGrp="1"/>
          </p:cNvSpPr>
          <p:nvPr>
            <p:ph type="ctrTitle"/>
          </p:nvPr>
        </p:nvSpPr>
        <p:spPr>
          <a:xfrm>
            <a:off x="1280160" y="301752"/>
            <a:ext cx="4663438" cy="2441448"/>
          </a:xfrm>
        </p:spPr>
        <p:txBody>
          <a:bodyPr/>
          <a:lstStyle/>
          <a:p>
            <a:r>
              <a:rPr lang="en-US" dirty="0"/>
              <a:t>Reflection</a:t>
            </a:r>
          </a:p>
        </p:txBody>
      </p:sp>
      <p:sp>
        <p:nvSpPr>
          <p:cNvPr id="9" name="Text Placeholder 8">
            <a:extLst>
              <a:ext uri="{FF2B5EF4-FFF2-40B4-BE49-F238E27FC236}">
                <a16:creationId xmlns:a16="http://schemas.microsoft.com/office/drawing/2014/main" id="{4677CB18-94DE-88EE-FDF7-D75A611BFCF7}"/>
              </a:ext>
            </a:extLst>
          </p:cNvPr>
          <p:cNvSpPr>
            <a:spLocks noGrp="1"/>
          </p:cNvSpPr>
          <p:nvPr>
            <p:ph type="body" sz="quarter" idx="14"/>
          </p:nvPr>
        </p:nvSpPr>
        <p:spPr>
          <a:xfrm>
            <a:off x="1280161" y="1981201"/>
            <a:ext cx="4663440" cy="4346448"/>
          </a:xfrm>
        </p:spPr>
        <p:txBody>
          <a:bodyPr/>
          <a:lstStyle/>
          <a:p>
            <a:pPr marL="285750" indent="-285750">
              <a:buFont typeface="Arial" panose="020B0604020202020204" pitchFamily="34" charset="0"/>
              <a:buChar char="•"/>
            </a:pPr>
            <a:r>
              <a:rPr lang="en-US" dirty="0"/>
              <a:t>Improved debugging skills</a:t>
            </a:r>
          </a:p>
          <a:p>
            <a:pPr marL="285750" indent="-285750">
              <a:buFont typeface="Arial" panose="020B0604020202020204" pitchFamily="34" charset="0"/>
              <a:buChar char="•"/>
            </a:pPr>
            <a:r>
              <a:rPr lang="en-GB" dirty="0"/>
              <a:t>Health issues limited attendance at some stand-up meetings</a:t>
            </a:r>
          </a:p>
          <a:p>
            <a:pPr marL="285750" indent="-285750">
              <a:buFont typeface="Arial" panose="020B0604020202020204" pitchFamily="34" charset="0"/>
              <a:buChar char="•"/>
            </a:pPr>
            <a:r>
              <a:rPr lang="en-GB" dirty="0"/>
              <a:t>Scrum targets required flexible self-management</a:t>
            </a:r>
          </a:p>
          <a:p>
            <a:pPr marL="285750" indent="-285750">
              <a:buFont typeface="Arial" panose="020B0604020202020204" pitchFamily="34" charset="0"/>
              <a:buChar char="•"/>
            </a:pPr>
            <a:r>
              <a:rPr lang="en-GB" dirty="0"/>
              <a:t>Adapted by breaking tasks into smaller goals</a:t>
            </a:r>
          </a:p>
          <a:p>
            <a:pPr marL="285750" indent="-285750">
              <a:buFont typeface="Arial" panose="020B0604020202020204" pitchFamily="34" charset="0"/>
              <a:buChar char="•"/>
            </a:pPr>
            <a:r>
              <a:rPr lang="en-GB" dirty="0"/>
              <a:t>Improved time management and independent working</a:t>
            </a:r>
          </a:p>
          <a:p>
            <a:pPr marL="285750" indent="-285750">
              <a:buFont typeface="Arial" panose="020B0604020202020204" pitchFamily="34" charset="0"/>
              <a:buChar char="•"/>
            </a:pPr>
            <a:r>
              <a:rPr lang="en-GB" dirty="0"/>
              <a:t>Intend to attend future stand-ups consistently</a:t>
            </a:r>
            <a:endParaRPr lang="en-US" dirty="0"/>
          </a:p>
        </p:txBody>
      </p:sp>
      <p:pic>
        <p:nvPicPr>
          <p:cNvPr id="6" name="Picture Placeholder 21" descr="Mountains under near dusk sky">
            <a:extLst>
              <a:ext uri="{FF2B5EF4-FFF2-40B4-BE49-F238E27FC236}">
                <a16:creationId xmlns:a16="http://schemas.microsoft.com/office/drawing/2014/main" id="{3058B4A2-6163-4464-0868-956E41A31AB1}"/>
              </a:ext>
            </a:extLst>
          </p:cNvPr>
          <p:cNvPicPr>
            <a:picLocks noGrp="1" noChangeAspect="1"/>
          </p:cNvPicPr>
          <p:nvPr>
            <p:ph type="pic" sz="quarter" idx="13"/>
          </p:nvPr>
        </p:nvPicPr>
        <p:blipFill rotWithShape="1">
          <a:blip r:embed="rId3"/>
          <a:srcRect l="22444" r="22444"/>
          <a:stretch/>
        </p:blipFill>
        <p:spPr>
          <a:xfrm>
            <a:off x="6695553" y="301752"/>
            <a:ext cx="5221224" cy="6263640"/>
          </a:xfrm>
        </p:spPr>
      </p:pic>
    </p:spTree>
    <p:extLst>
      <p:ext uri="{BB962C8B-B14F-4D97-AF65-F5344CB8AC3E}">
        <p14:creationId xmlns:p14="http://schemas.microsoft.com/office/powerpoint/2010/main" val="3013785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58521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371606" y="320531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09" y="3127248"/>
            <a:ext cx="6117381" cy="3017520"/>
          </a:xfrm>
        </p:spPr>
        <p:txBody>
          <a:bodyPr/>
          <a:lstStyle/>
          <a:p>
            <a:r>
              <a:rPr lang="en-US" dirty="0"/>
              <a:t>Sam Vincent</a:t>
            </a:r>
          </a:p>
          <a:p>
            <a:r>
              <a:rPr lang="en-US" dirty="0"/>
              <a:t>Sam.Vincent@students.Plymouth.ac.uk</a:t>
            </a:r>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3.xml><?xml version="1.0" encoding="utf-8"?>
<ds:datastoreItem xmlns:ds="http://schemas.openxmlformats.org/officeDocument/2006/customXml" ds:itemID="{488E9556-96EB-43B4-8552-B18E859B65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{FE34A047-01D9-4FE0-8D18-4A799B558D19}372c19de-dfd4-4de7-9293-53c5fa2d1f7c-TF54b766f8-63ee-43b7-9d15-113a5f305028b8e3081f_win32</Template>
  <TotalTime>145</TotalTime>
  <Words>520</Words>
  <Application>Microsoft Office PowerPoint</Application>
  <PresentationFormat>Widescreen</PresentationFormat>
  <Paragraphs>79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Univers</vt:lpstr>
      <vt:lpstr>GradientVTI</vt:lpstr>
      <vt:lpstr>The Phisherman</vt:lpstr>
      <vt:lpstr>Content</vt:lpstr>
      <vt:lpstr>Background and Motivation</vt:lpstr>
      <vt:lpstr>Project Plan and Development</vt:lpstr>
      <vt:lpstr>Design and Uml overview</vt:lpstr>
      <vt:lpstr>Prototype demonstration</vt:lpstr>
      <vt:lpstr>Issues and challenges</vt:lpstr>
      <vt:lpstr>Reflection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Vincent</dc:creator>
  <cp:lastModifiedBy>Sam Vincent</cp:lastModifiedBy>
  <cp:revision>1</cp:revision>
  <dcterms:created xsi:type="dcterms:W3CDTF">2026-01-15T12:18:34Z</dcterms:created>
  <dcterms:modified xsi:type="dcterms:W3CDTF">2026-01-15T14:43:45Z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